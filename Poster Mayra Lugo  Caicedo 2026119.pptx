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40" userDrawn="1">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558" autoAdjust="0"/>
  </p:normalViewPr>
  <p:slideViewPr>
    <p:cSldViewPr snapToGrid="0" snapToObjects="1" showGuides="1">
      <p:cViewPr>
        <p:scale>
          <a:sx n="29" d="100"/>
          <a:sy n="29" d="100"/>
        </p:scale>
        <p:origin x="-500" y="-3028"/>
      </p:cViewPr>
      <p:guideLst>
        <p:guide orient="horz" pos="3318"/>
        <p:guide orient="horz" pos="240"/>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10/28/2026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10/28/2026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874433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829841"/>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3663873"/>
            <a:ext cx="10050462"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000109"/>
            <a:ext cx="10058400"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000109"/>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5829841"/>
            <a:ext cx="10047018"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3724098"/>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4462762"/>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130761"/>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5884806"/>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402912"/>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505788"/>
            <a:ext cx="31998968"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562745"/>
            <a:ext cx="31998968"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923330"/>
          </a:xfrm>
          <a:prstGeom prst="rect">
            <a:avLst/>
          </a:prstGeom>
        </p:spPr>
        <p:txBody>
          <a:bodyPr anchor="t" anchorCtr="0">
            <a:spAutoFit/>
          </a:bodyPr>
          <a:lstStyle>
            <a:lvl1pPr marL="0" indent="0" algn="ctr">
              <a:buFontTx/>
              <a:buNone/>
              <a:defRPr sz="5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4703D5-BF2F-DF41-7EEE-50B26CAB4433}"/>
              </a:ext>
            </a:extLst>
          </p:cNvPr>
          <p:cNvSpPr/>
          <p:nvPr userDrawn="1"/>
        </p:nvSpPr>
        <p:spPr>
          <a:xfrm>
            <a:off x="0" y="32077025"/>
            <a:ext cx="43891200" cy="9132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652905" y="32351882"/>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6" name="Group 5">
            <a:extLst>
              <a:ext uri="{FF2B5EF4-FFF2-40B4-BE49-F238E27FC236}">
                <a16:creationId xmlns:a16="http://schemas.microsoft.com/office/drawing/2014/main" id="{E5ED0136-E6E9-E340-DCD6-5053BABFBFE4}"/>
              </a:ext>
            </a:extLst>
          </p:cNvPr>
          <p:cNvGrpSpPr/>
          <p:nvPr userDrawn="1"/>
        </p:nvGrpSpPr>
        <p:grpSpPr>
          <a:xfrm>
            <a:off x="0" y="14098"/>
            <a:ext cx="43891200" cy="4314166"/>
            <a:chOff x="0" y="-1"/>
            <a:chExt cx="12192000" cy="1219223"/>
          </a:xfrm>
        </p:grpSpPr>
        <p:sp>
          <p:nvSpPr>
            <p:cNvPr id="7" name="Document 6">
              <a:extLst>
                <a:ext uri="{FF2B5EF4-FFF2-40B4-BE49-F238E27FC236}">
                  <a16:creationId xmlns:a16="http://schemas.microsoft.com/office/drawing/2014/main" id="{F27200FE-D213-3004-DA26-3B8202A2AB23}"/>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BB4B2C32-5D48-98BC-A030-3CCE7D871E0A}"/>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9" name="Table 8">
            <a:extLst>
              <a:ext uri="{FF2B5EF4-FFF2-40B4-BE49-F238E27FC236}">
                <a16:creationId xmlns:a16="http://schemas.microsoft.com/office/drawing/2014/main" id="{EBE54204-A6CE-7FCD-B66B-82C4160074D3}"/>
              </a:ext>
            </a:extLst>
          </p:cNvPr>
          <p:cNvGraphicFramePr>
            <a:graphicFrameLocks noGrp="1"/>
          </p:cNvGraphicFramePr>
          <p:nvPr userDrawn="1">
            <p:extLst>
              <p:ext uri="{D42A27DB-BD31-4B8C-83A1-F6EECF244321}">
                <p14:modId xmlns:p14="http://schemas.microsoft.com/office/powerpoint/2010/main" val="3083830307"/>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1" name="Table 10">
            <a:extLst>
              <a:ext uri="{FF2B5EF4-FFF2-40B4-BE49-F238E27FC236}">
                <a16:creationId xmlns:a16="http://schemas.microsoft.com/office/drawing/2014/main" id="{178D25C5-903A-8A88-2730-00EE651568B1}"/>
              </a:ext>
            </a:extLst>
          </p:cNvPr>
          <p:cNvGraphicFramePr>
            <a:graphicFrameLocks noGrp="1"/>
          </p:cNvGraphicFramePr>
          <p:nvPr userDrawn="1">
            <p:extLst>
              <p:ext uri="{D42A27DB-BD31-4B8C-83A1-F6EECF244321}">
                <p14:modId xmlns:p14="http://schemas.microsoft.com/office/powerpoint/2010/main" val="4273981581"/>
              </p:ext>
            </p:extLst>
          </p:nvPr>
        </p:nvGraphicFramePr>
        <p:xfrm>
          <a:off x="44635119" y="14098"/>
          <a:ext cx="9490298" cy="33222224"/>
        </p:xfrm>
        <a:graphic>
          <a:graphicData uri="http://schemas.openxmlformats.org/drawingml/2006/table">
            <a:tbl>
              <a:tblPr firstRow="1" bandRow="1">
                <a:tableStyleId>{5C22544A-7EE6-4342-B048-85BDC9FD1C3A}</a:tableStyleId>
              </a:tblPr>
              <a:tblGrid>
                <a:gridCol w="340394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31320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92177">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6588">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8706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58129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63884">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38793">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062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txBody>
                  <a:tcPr marL="182880" marT="137160">
                    <a:solidFill>
                      <a:schemeClr val="accent5">
                        <a:lumMod val="5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287327">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494115">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hyperlink" Target="https://finance.yahoo.com/quote/%5EIXIC/" TargetMode="External"/><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hyperlink" Target="https://www.equiti.com/sc-en/news/trading-ideas/what-is-volatility-in-trading-volatility-trading-for-beginners/" TargetMode="External"/><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39B15A-A5D0-CCF3-5253-13C72B1D5BE0}"/>
              </a:ext>
            </a:extLst>
          </p:cNvPr>
          <p:cNvSpPr>
            <a:spLocks noGrp="1"/>
          </p:cNvSpPr>
          <p:nvPr>
            <p:ph type="body" sz="quarter" idx="10"/>
          </p:nvPr>
        </p:nvSpPr>
        <p:spPr>
          <a:xfrm>
            <a:off x="459674" y="5829841"/>
            <a:ext cx="10056813" cy="5299890"/>
          </a:xfrm>
        </p:spPr>
        <p:txBody>
          <a:bodyPr/>
          <a:lstStyle/>
          <a:p>
            <a:pPr algn="just"/>
            <a:r>
              <a:rPr lang="en-GB" sz="2400" dirty="0"/>
              <a:t>Financial markets are dynamic, and trading days are not all the same; They go through periods of calm, high volatility and extreme shock. The key thing is to be able to identify what regime the market is in at any time market regime is crucial for risk management. However, this information is not explicitly available in financial data, requiring mathematical models to uncover it. This project applies unsupervised Machine Learning to 10 years of QQQ ETF data to segment trading days into three distinct regimes using K-Means and Fuzzy C-Means, It then uses an ARIMA model to forecast the short-term price. The analysis is based on daily prices, volume, log returns, 20-day volatility, and volume ratio.</a:t>
            </a:r>
          </a:p>
          <a:p>
            <a:r>
              <a:rPr lang="en-US" dirty="0"/>
              <a:t>  	 	</a:t>
            </a:r>
          </a:p>
        </p:txBody>
      </p:sp>
      <p:sp>
        <p:nvSpPr>
          <p:cNvPr id="3" name="Text Placeholder 2">
            <a:extLst>
              <a:ext uri="{FF2B5EF4-FFF2-40B4-BE49-F238E27FC236}">
                <a16:creationId xmlns:a16="http://schemas.microsoft.com/office/drawing/2014/main" id="{ABF601BF-2A5B-5C56-BF98-D57CC5FA7615}"/>
              </a:ext>
            </a:extLst>
          </p:cNvPr>
          <p:cNvSpPr>
            <a:spLocks noGrp="1"/>
          </p:cNvSpPr>
          <p:nvPr>
            <p:ph type="body" sz="quarter" idx="11"/>
          </p:nvPr>
        </p:nvSpPr>
        <p:spPr/>
        <p:txBody>
          <a:bodyPr/>
          <a:lstStyle/>
          <a:p>
            <a:r>
              <a:rPr lang="en-US" dirty="0"/>
              <a:t>INTRODUCTION</a:t>
            </a:r>
          </a:p>
        </p:txBody>
      </p:sp>
      <p:sp>
        <p:nvSpPr>
          <p:cNvPr id="4" name="Text Placeholder 3">
            <a:extLst>
              <a:ext uri="{FF2B5EF4-FFF2-40B4-BE49-F238E27FC236}">
                <a16:creationId xmlns:a16="http://schemas.microsoft.com/office/drawing/2014/main" id="{2FA128F3-6A57-DD54-BC55-ABC7987AB417}"/>
              </a:ext>
            </a:extLst>
          </p:cNvPr>
          <p:cNvSpPr>
            <a:spLocks noGrp="1"/>
          </p:cNvSpPr>
          <p:nvPr>
            <p:ph type="body" sz="quarter" idx="20"/>
          </p:nvPr>
        </p:nvSpPr>
        <p:spPr>
          <a:xfrm>
            <a:off x="495978" y="10762184"/>
            <a:ext cx="10050462" cy="615545"/>
          </a:xfrm>
        </p:spPr>
        <p:txBody>
          <a:bodyPr/>
          <a:lstStyle/>
          <a:p>
            <a:r>
              <a:rPr lang="en-US" dirty="0"/>
              <a:t>OBJECTIVES</a:t>
            </a:r>
          </a:p>
        </p:txBody>
      </p:sp>
      <p:sp>
        <p:nvSpPr>
          <p:cNvPr id="5" name="Text Placeholder 4">
            <a:extLst>
              <a:ext uri="{FF2B5EF4-FFF2-40B4-BE49-F238E27FC236}">
                <a16:creationId xmlns:a16="http://schemas.microsoft.com/office/drawing/2014/main" id="{7E17A497-46C1-B833-4D36-ADCA71D86349}"/>
              </a:ext>
            </a:extLst>
          </p:cNvPr>
          <p:cNvSpPr>
            <a:spLocks noGrp="1"/>
          </p:cNvSpPr>
          <p:nvPr>
            <p:ph type="body" sz="quarter" idx="21"/>
          </p:nvPr>
        </p:nvSpPr>
        <p:spPr>
          <a:xfrm>
            <a:off x="11460161" y="5829839"/>
            <a:ext cx="10048874" cy="9233210"/>
          </a:xfrm>
        </p:spPr>
        <p:txBody>
          <a:bodyPr/>
          <a:lstStyle/>
          <a:p>
            <a:pPr algn="just"/>
            <a:r>
              <a:rPr lang="en-IE" sz="2400" b="1" dirty="0"/>
              <a:t>Fuzzy C-Means (FCM):</a:t>
            </a:r>
            <a:r>
              <a:rPr lang="en-IE" sz="2400" dirty="0"/>
              <a:t> Applied to identify "overlapping days" (days where the market did not clearly belong to a single regime).</a:t>
            </a:r>
          </a:p>
          <a:p>
            <a:r>
              <a:rPr lang="en-IE" sz="2400" b="1" dirty="0"/>
              <a:t>4. Time Series Forecasting</a:t>
            </a:r>
            <a:br>
              <a:rPr lang="en-IE" sz="2400" dirty="0"/>
            </a:br>
            <a:r>
              <a:rPr lang="en-IE" sz="2400" i="1" dirty="0"/>
              <a:t>Finally, the objective was to estimate future price movements based on historical </a:t>
            </a:r>
            <a:r>
              <a:rPr lang="en-IE" sz="2400" i="1" dirty="0" err="1"/>
              <a:t>behavior</a:t>
            </a:r>
            <a:r>
              <a:rPr lang="en-IE" sz="2400" i="1" dirty="0"/>
              <a:t>.</a:t>
            </a:r>
            <a:endParaRPr lang="en-IE" sz="2400" dirty="0"/>
          </a:p>
          <a:p>
            <a:pPr lvl="0" algn="just"/>
            <a:r>
              <a:rPr lang="en-IE" sz="2400" b="1" dirty="0"/>
              <a:t>Stationarity:</a:t>
            </a:r>
            <a:r>
              <a:rPr lang="en-IE" sz="2400" dirty="0"/>
              <a:t> ADF and KPSS tests were applied, which confirmed the need for first-order differencing (d=1).</a:t>
            </a:r>
          </a:p>
          <a:p>
            <a:pPr lvl="0" algn="just"/>
            <a:r>
              <a:rPr lang="en-IE" sz="2400" b="1" dirty="0"/>
              <a:t>ARIMA(0,1,0):</a:t>
            </a:r>
            <a:r>
              <a:rPr lang="en-IE" sz="2400" dirty="0"/>
              <a:t> Trained on the first 2,463 days and evaluated on the last 30 days using MAE, RMSE, and MAPE.</a:t>
            </a:r>
          </a:p>
          <a:p>
            <a:endParaRPr lang="en-IE" dirty="0"/>
          </a:p>
          <a:p>
            <a:endParaRPr lang="en-US" dirty="0"/>
          </a:p>
        </p:txBody>
      </p:sp>
      <p:sp>
        <p:nvSpPr>
          <p:cNvPr id="6" name="Text Placeholder 5">
            <a:extLst>
              <a:ext uri="{FF2B5EF4-FFF2-40B4-BE49-F238E27FC236}">
                <a16:creationId xmlns:a16="http://schemas.microsoft.com/office/drawing/2014/main" id="{6585B3EA-B18E-7FC2-B2CD-2D7E02CF97EB}"/>
              </a:ext>
            </a:extLst>
          </p:cNvPr>
          <p:cNvSpPr>
            <a:spLocks noGrp="1"/>
          </p:cNvSpPr>
          <p:nvPr>
            <p:ph type="body" sz="quarter" idx="22"/>
          </p:nvPr>
        </p:nvSpPr>
        <p:spPr/>
        <p:txBody>
          <a:bodyPr/>
          <a:lstStyle/>
          <a:p>
            <a:r>
              <a:rPr lang="en-US" dirty="0"/>
              <a:t>METHODS</a:t>
            </a:r>
          </a:p>
        </p:txBody>
      </p:sp>
      <p:sp>
        <p:nvSpPr>
          <p:cNvPr id="7" name="Text Placeholder 6">
            <a:extLst>
              <a:ext uri="{FF2B5EF4-FFF2-40B4-BE49-F238E27FC236}">
                <a16:creationId xmlns:a16="http://schemas.microsoft.com/office/drawing/2014/main" id="{4F5BE437-9F0D-82A7-FBFB-D2DBD5108729}"/>
              </a:ext>
            </a:extLst>
          </p:cNvPr>
          <p:cNvSpPr>
            <a:spLocks noGrp="1"/>
          </p:cNvSpPr>
          <p:nvPr>
            <p:ph type="body" sz="quarter" idx="23"/>
          </p:nvPr>
        </p:nvSpPr>
        <p:spPr>
          <a:xfrm>
            <a:off x="22192838" y="5829840"/>
            <a:ext cx="10048874" cy="23286353"/>
          </a:xfrm>
        </p:spPr>
        <p:txBody>
          <a:bodyPr/>
          <a:lstStyle/>
          <a:p>
            <a:pPr lvl="0" algn="just"/>
            <a:r>
              <a:rPr lang="en-IE" sz="2400" b="1" dirty="0"/>
              <a:t>Early Warning Signals:</a:t>
            </a:r>
            <a:r>
              <a:rPr lang="en-IE" sz="2400" dirty="0"/>
              <a:t> These days represent periods where the market transitions between regimes, which is highly valuable for anticipating risk shifts.</a:t>
            </a:r>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r>
              <a:rPr lang="en-IE" sz="2400" b="1" dirty="0"/>
              <a:t>3. Time Series Forecasting (ARIMA)</a:t>
            </a:r>
            <a:endParaRPr lang="en-IE" sz="2400" dirty="0"/>
          </a:p>
          <a:p>
            <a:pPr lvl="0"/>
            <a:r>
              <a:rPr lang="en-IE" sz="2400" dirty="0"/>
              <a:t>Time Series Decomposition The QQQ price was decomposed to understand its underlying structure (using a multiplicative model):</a:t>
            </a:r>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algn="just"/>
            <a:endParaRPr lang="en-IE" sz="2400" dirty="0"/>
          </a:p>
          <a:p>
            <a:pPr algn="just"/>
            <a:endParaRPr lang="en-IE" b="1" dirty="0"/>
          </a:p>
          <a:p>
            <a:pPr algn="just"/>
            <a:r>
              <a:rPr lang="en-IE" sz="2400" b="1" dirty="0"/>
              <a:t>Trend:</a:t>
            </a:r>
            <a:r>
              <a:rPr lang="en-IE" sz="2400" dirty="0"/>
              <a:t> Reveals the steady, long-term upward path of the QQQ from 2017 to 2026.</a:t>
            </a:r>
          </a:p>
          <a:p>
            <a:pPr lvl="0" algn="just"/>
            <a:r>
              <a:rPr lang="en-IE" sz="2400" b="1" dirty="0"/>
              <a:t>Seasonality:</a:t>
            </a:r>
            <a:r>
              <a:rPr lang="en-IE" sz="2400" dirty="0"/>
              <a:t> Catches the yearly ups and downs that repeat every 252 trading days.</a:t>
            </a:r>
          </a:p>
          <a:p>
            <a:pPr lvl="0" algn="just"/>
            <a:r>
              <a:rPr lang="en-IE" sz="2400" b="1" dirty="0"/>
              <a:t>Residuals:</a:t>
            </a:r>
            <a:r>
              <a:rPr lang="en-IE" sz="2400" dirty="0"/>
              <a:t> Points out the unpredictable shocks, like the 2020 COVID crash, that do not fit the normal trend.</a:t>
            </a:r>
          </a:p>
          <a:p>
            <a:endParaRPr lang="en-IE" sz="2400" b="1" dirty="0"/>
          </a:p>
          <a:p>
            <a:r>
              <a:rPr lang="en-IE" sz="2400" b="1" dirty="0"/>
              <a:t>Stationarity Transformation (d=1)</a:t>
            </a:r>
            <a:endParaRPr lang="en-IE" sz="2400" dirty="0"/>
          </a:p>
          <a:p>
            <a:r>
              <a:rPr lang="en-IE" sz="2400" dirty="0"/>
              <a:t>To use the ARIMA model, the data must be stationary (constant mean and variance).</a:t>
            </a:r>
          </a:p>
          <a:p>
            <a:pPr lvl="0"/>
            <a:r>
              <a:rPr lang="en-IE" sz="2400" b="1" dirty="0"/>
              <a:t>Original Series (Top):</a:t>
            </a:r>
            <a:r>
              <a:rPr lang="en-IE" sz="2400" dirty="0"/>
              <a:t> The raw QQQ price is non-stationary, showing a strong long-term trend.</a:t>
            </a:r>
          </a:p>
          <a:p>
            <a:pPr lvl="0"/>
            <a:r>
              <a:rPr lang="en-IE" sz="2400" b="1" dirty="0"/>
              <a:t>Differentiated Series (Bottom):</a:t>
            </a:r>
            <a:r>
              <a:rPr lang="en-IE" sz="2400" dirty="0"/>
              <a:t> Applying first order differencing (d=1) successfully removes the trend. The data now oscillates around zero, stabilizing the mean.</a:t>
            </a:r>
          </a:p>
          <a:p>
            <a:pPr lvl="0" algn="just"/>
            <a:endParaRPr lang="en-IE" sz="2400" dirty="0"/>
          </a:p>
          <a:p>
            <a:pPr lvl="0" algn="just"/>
            <a:endParaRPr lang="en-IE" sz="2400" dirty="0"/>
          </a:p>
          <a:p>
            <a:pPr lvl="0" algn="just"/>
            <a:endParaRPr lang="en-IE" sz="2400" dirty="0"/>
          </a:p>
          <a:p>
            <a:pPr lvl="0" algn="just"/>
            <a:endParaRPr lang="en-IE" sz="2400" dirty="0"/>
          </a:p>
          <a:p>
            <a:endParaRPr lang="en-US" dirty="0"/>
          </a:p>
        </p:txBody>
      </p:sp>
      <p:sp>
        <p:nvSpPr>
          <p:cNvPr id="8" name="Text Placeholder 7">
            <a:extLst>
              <a:ext uri="{FF2B5EF4-FFF2-40B4-BE49-F238E27FC236}">
                <a16:creationId xmlns:a16="http://schemas.microsoft.com/office/drawing/2014/main" id="{194151B7-6ED8-F2C6-FE53-92BB5AE7F145}"/>
              </a:ext>
            </a:extLst>
          </p:cNvPr>
          <p:cNvSpPr>
            <a:spLocks noGrp="1"/>
          </p:cNvSpPr>
          <p:nvPr>
            <p:ph type="body" sz="quarter" idx="24"/>
          </p:nvPr>
        </p:nvSpPr>
        <p:spPr>
          <a:xfrm>
            <a:off x="22184899" y="5000109"/>
            <a:ext cx="10058400" cy="615545"/>
          </a:xfrm>
        </p:spPr>
        <p:txBody>
          <a:bodyPr/>
          <a:lstStyle/>
          <a:p>
            <a:r>
              <a:rPr lang="en-US" dirty="0"/>
              <a:t>RESULTS</a:t>
            </a:r>
          </a:p>
        </p:txBody>
      </p:sp>
      <p:sp>
        <p:nvSpPr>
          <p:cNvPr id="9" name="Text Placeholder 8">
            <a:extLst>
              <a:ext uri="{FF2B5EF4-FFF2-40B4-BE49-F238E27FC236}">
                <a16:creationId xmlns:a16="http://schemas.microsoft.com/office/drawing/2014/main" id="{109607D9-8986-46BB-4981-8DFFD1929625}"/>
              </a:ext>
            </a:extLst>
          </p:cNvPr>
          <p:cNvSpPr>
            <a:spLocks noGrp="1"/>
          </p:cNvSpPr>
          <p:nvPr>
            <p:ph type="body" sz="quarter" idx="25"/>
          </p:nvPr>
        </p:nvSpPr>
        <p:spPr/>
        <p:txBody>
          <a:bodyPr/>
          <a:lstStyle/>
          <a:p>
            <a:r>
              <a:rPr lang="en-US" dirty="0"/>
              <a:t>RESULTS</a:t>
            </a:r>
          </a:p>
        </p:txBody>
      </p:sp>
      <p:sp>
        <p:nvSpPr>
          <p:cNvPr id="10" name="Text Placeholder 9">
            <a:extLst>
              <a:ext uri="{FF2B5EF4-FFF2-40B4-BE49-F238E27FC236}">
                <a16:creationId xmlns:a16="http://schemas.microsoft.com/office/drawing/2014/main" id="{BD8D252B-839A-3EC0-1EEA-A62A153F85EC}"/>
              </a:ext>
            </a:extLst>
          </p:cNvPr>
          <p:cNvSpPr>
            <a:spLocks noGrp="1"/>
          </p:cNvSpPr>
          <p:nvPr>
            <p:ph type="body" sz="quarter" idx="26"/>
          </p:nvPr>
        </p:nvSpPr>
        <p:spPr>
          <a:xfrm>
            <a:off x="33390292" y="5829840"/>
            <a:ext cx="10047018" cy="17746374"/>
          </a:xfrm>
        </p:spPr>
        <p:txBody>
          <a:bodyPr/>
          <a:lstStyle/>
          <a:p>
            <a:pPr algn="just"/>
            <a:r>
              <a:rPr lang="en-IE" sz="2400" b="1" dirty="0"/>
              <a:t>ARIMA Forecast: Next 30 Days</a:t>
            </a:r>
            <a:endParaRPr lang="en-IE" sz="2400" dirty="0"/>
          </a:p>
          <a:p>
            <a:pPr lvl="0" algn="just"/>
            <a:r>
              <a:rPr lang="en-IE" sz="2400" b="1" dirty="0"/>
              <a:t>Flat Forecast (Red line):</a:t>
            </a:r>
            <a:r>
              <a:rPr lang="en-IE" sz="2400" dirty="0"/>
              <a:t> The model predicts a flat line because it acts as a Random Walk (the best guess for tomorrow is today's price).</a:t>
            </a:r>
          </a:p>
          <a:p>
            <a:pPr lvl="0" algn="just"/>
            <a:r>
              <a:rPr lang="en-IE" sz="2400" b="1" dirty="0"/>
              <a:t>Widening Intervals (Pink areas):</a:t>
            </a:r>
            <a:r>
              <a:rPr lang="en-IE" sz="2400" dirty="0"/>
              <a:t> The uncertainty grows over time. By day 30, the price could realistically be anywhere between ~$695 and ~$800.</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IE" sz="2400" b="1" dirty="0"/>
              <a:t>Historical Model Fit: Actual vs. ARIMA (10 Years)</a:t>
            </a:r>
            <a:endParaRPr lang="en-IE" sz="2400" dirty="0"/>
          </a:p>
          <a:p>
            <a:pPr lvl="0" algn="just"/>
            <a:r>
              <a:rPr lang="en-IE" sz="2400" b="1" dirty="0"/>
              <a:t>Almost a perfect match:</a:t>
            </a:r>
            <a:r>
              <a:rPr lang="en-IE" sz="2400" dirty="0"/>
              <a:t> The predicted line (red) fits the actual prices (blue) almost exactly, which explains the very high R² score (0.9991).</a:t>
            </a:r>
          </a:p>
          <a:p>
            <a:pPr lvl="0" algn="just"/>
            <a:r>
              <a:rPr lang="en-IE" sz="2400" b="1" dirty="0"/>
              <a:t>The important detail:</a:t>
            </a:r>
            <a:r>
              <a:rPr lang="en-IE" sz="2400" dirty="0"/>
              <a:t> The model is not actually predicting the future; it is a Random Walk that simply uses yesterday's price to estimate today's. This is why the lines overlap so closely.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endParaRPr lang="en-IE" dirty="0"/>
          </a:p>
          <a:p>
            <a:pPr algn="just"/>
            <a:endParaRPr lang="en-US" sz="24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1" name="Text Placeholder 10">
            <a:extLst>
              <a:ext uri="{FF2B5EF4-FFF2-40B4-BE49-F238E27FC236}">
                <a16:creationId xmlns:a16="http://schemas.microsoft.com/office/drawing/2014/main" id="{13725BF2-9AE2-7633-0FAE-711AAE057EFC}"/>
              </a:ext>
            </a:extLst>
          </p:cNvPr>
          <p:cNvSpPr>
            <a:spLocks noGrp="1"/>
          </p:cNvSpPr>
          <p:nvPr>
            <p:ph type="body" sz="quarter" idx="27"/>
          </p:nvPr>
        </p:nvSpPr>
        <p:spPr>
          <a:xfrm>
            <a:off x="33390292" y="20012124"/>
            <a:ext cx="10047018" cy="615545"/>
          </a:xfrm>
        </p:spPr>
        <p:txBody>
          <a:bodyPr/>
          <a:lstStyle/>
          <a:p>
            <a:r>
              <a:rPr lang="en-US" dirty="0"/>
              <a:t>CONCLUTIONS</a:t>
            </a:r>
          </a:p>
        </p:txBody>
      </p:sp>
      <p:sp>
        <p:nvSpPr>
          <p:cNvPr id="12" name="Text Placeholder 11">
            <a:extLst>
              <a:ext uri="{FF2B5EF4-FFF2-40B4-BE49-F238E27FC236}">
                <a16:creationId xmlns:a16="http://schemas.microsoft.com/office/drawing/2014/main" id="{14C41E60-197E-8E8D-43FF-35936D78FF38}"/>
              </a:ext>
            </a:extLst>
          </p:cNvPr>
          <p:cNvSpPr>
            <a:spLocks noGrp="1"/>
          </p:cNvSpPr>
          <p:nvPr>
            <p:ph type="body" sz="quarter" idx="28"/>
          </p:nvPr>
        </p:nvSpPr>
        <p:spPr>
          <a:xfrm>
            <a:off x="33390292" y="20509369"/>
            <a:ext cx="10052050" cy="7996013"/>
          </a:xfrm>
        </p:spPr>
        <p:txBody>
          <a:bodyPr/>
          <a:lstStyle/>
          <a:p>
            <a:r>
              <a:rPr lang="en-GB" sz="2400" dirty="0"/>
              <a:t>The main objective of this project was to segment QQQ trading days according to their behaviour using unsupervised learning and time series analysis, the following conclusions can be drawn:</a:t>
            </a:r>
          </a:p>
          <a:p>
            <a:pPr marL="342900" indent="-342900">
              <a:buAutoNum type="arabicPeriod"/>
            </a:pPr>
            <a:r>
              <a:rPr lang="en-GB" sz="2400" dirty="0"/>
              <a:t>Market Regimes Exist: I identified 3 distinct market regimes:</a:t>
            </a:r>
          </a:p>
          <a:p>
            <a:r>
              <a:rPr lang="en-GB" sz="2400" dirty="0"/>
              <a:t>    Normal Regime: Low Volatility and average volume.</a:t>
            </a:r>
          </a:p>
          <a:p>
            <a:r>
              <a:rPr lang="en-GB" sz="2400" dirty="0"/>
              <a:t>    High Volatility Regime: market stress.</a:t>
            </a:r>
          </a:p>
          <a:p>
            <a:r>
              <a:rPr lang="en-GB" sz="2400" dirty="0"/>
              <a:t>     Volume Shock Regime: Extreme trading activity.</a:t>
            </a:r>
          </a:p>
          <a:p>
            <a:r>
              <a:rPr lang="en-GB" sz="2400" dirty="0"/>
              <a:t>2. K means is the best model for strict Classification: </a:t>
            </a:r>
            <a:r>
              <a:rPr lang="en-GB" sz="2400" dirty="0" err="1"/>
              <a:t>Kmeans</a:t>
            </a:r>
            <a:r>
              <a:rPr lang="en-GB" sz="2400" dirty="0"/>
              <a:t> provide to be more effective than Fuzzy C means for clear segmentation with 0.36 and lower Davies Bouldin score 1.21 Fuzzy C-Means: it reveals the market ambiguity.</a:t>
            </a:r>
          </a:p>
          <a:p>
            <a:r>
              <a:rPr lang="en-GB" sz="2400" dirty="0"/>
              <a:t>3. The market does not jump from calm to panic instantly: it has mixed behaviour.</a:t>
            </a:r>
          </a:p>
          <a:p>
            <a:r>
              <a:rPr lang="en-GB" sz="2400" dirty="0"/>
              <a:t>4. ARIMA provides Short Term Accuracy because it showed a high accurate forecast a MAPE of 2,62%, however, the (0,1,0) a Random Walk  cannot predict sudden market shocks. While it is impossible to predict the exact future price, understanding the market regime and detecting transition days allows for smarter, data-driven risk management.</a:t>
            </a:r>
            <a:endParaRPr lang="en-US" sz="2400" dirty="0"/>
          </a:p>
        </p:txBody>
      </p:sp>
      <p:sp>
        <p:nvSpPr>
          <p:cNvPr id="13" name="Text Placeholder 12">
            <a:extLst>
              <a:ext uri="{FF2B5EF4-FFF2-40B4-BE49-F238E27FC236}">
                <a16:creationId xmlns:a16="http://schemas.microsoft.com/office/drawing/2014/main" id="{0F6D87B7-C12A-12F9-A946-B5E4656EE02D}"/>
              </a:ext>
            </a:extLst>
          </p:cNvPr>
          <p:cNvSpPr>
            <a:spLocks noGrp="1"/>
          </p:cNvSpPr>
          <p:nvPr>
            <p:ph type="body" sz="quarter" idx="29"/>
          </p:nvPr>
        </p:nvSpPr>
        <p:spPr>
          <a:xfrm>
            <a:off x="33235030" y="28315028"/>
            <a:ext cx="10047018" cy="615545"/>
          </a:xfrm>
        </p:spPr>
        <p:txBody>
          <a:bodyPr/>
          <a:lstStyle/>
          <a:p>
            <a:r>
              <a:rPr lang="en-US" dirty="0"/>
              <a:t>REFERENCES</a:t>
            </a:r>
          </a:p>
        </p:txBody>
      </p:sp>
      <p:sp>
        <p:nvSpPr>
          <p:cNvPr id="14" name="Text Placeholder 13">
            <a:extLst>
              <a:ext uri="{FF2B5EF4-FFF2-40B4-BE49-F238E27FC236}">
                <a16:creationId xmlns:a16="http://schemas.microsoft.com/office/drawing/2014/main" id="{09D2277D-0005-E662-D92E-2AF719434B25}"/>
              </a:ext>
            </a:extLst>
          </p:cNvPr>
          <p:cNvSpPr>
            <a:spLocks noGrp="1"/>
          </p:cNvSpPr>
          <p:nvPr>
            <p:ph type="body" sz="quarter" idx="30"/>
          </p:nvPr>
        </p:nvSpPr>
        <p:spPr>
          <a:xfrm>
            <a:off x="33229998" y="28869286"/>
            <a:ext cx="10052050" cy="3120832"/>
          </a:xfrm>
        </p:spPr>
        <p:txBody>
          <a:bodyPr/>
          <a:lstStyle/>
          <a:p>
            <a:pPr marL="285750" indent="-285750">
              <a:buFont typeface="Arial" panose="020B0604020202020204" pitchFamily="34" charset="0"/>
              <a:buChar char="•"/>
            </a:pPr>
            <a:r>
              <a:rPr lang="en-IE" dirty="0"/>
              <a:t>@YahooFinance. (2019). NASDAQ Composite (^IXIC) Stock Price, Quote, History &amp; News. [online] Available at: </a:t>
            </a:r>
            <a:r>
              <a:rPr lang="en-IE" dirty="0">
                <a:hlinkClick r:id="rId3"/>
              </a:rPr>
              <a:t>https://finance.yahoo.com/quote/%5EIXIC/</a:t>
            </a:r>
            <a:r>
              <a:rPr lang="en-IE" dirty="0"/>
              <a:t> [Accessed 29 Sept. 2026].</a:t>
            </a:r>
          </a:p>
          <a:p>
            <a:pPr marL="285750" indent="-285750">
              <a:buFont typeface="Arial" panose="020B0604020202020204" pitchFamily="34" charset="0"/>
              <a:buChar char="•"/>
            </a:pPr>
            <a:r>
              <a:rPr lang="en-IE" dirty="0"/>
              <a:t>Iqbal, M. (2026) 'Tutorial 6 (ARIMA and SARIMA)', MLBus_HDipData_Feb26_FT: Machine Learning for Business. Dublin: CCT College Dublin.</a:t>
            </a:r>
          </a:p>
          <a:p>
            <a:pPr marL="285750" indent="-285750">
              <a:buFont typeface="Arial" panose="020B0604020202020204" pitchFamily="34" charset="0"/>
              <a:buChar char="•"/>
            </a:pPr>
            <a:r>
              <a:rPr lang="en-IE" dirty="0"/>
              <a:t>Abu </a:t>
            </a:r>
            <a:r>
              <a:rPr lang="en-IE" dirty="0" err="1"/>
              <a:t>Summaqa</a:t>
            </a:r>
            <a:r>
              <a:rPr lang="en-IE" dirty="0"/>
              <a:t>, Y. (2026). What is volatility in trading? volatility trading for beginners. [online] </a:t>
            </a:r>
            <a:r>
              <a:rPr lang="en-IE" dirty="0" err="1"/>
              <a:t>Equiti</a:t>
            </a:r>
            <a:r>
              <a:rPr lang="en-IE" dirty="0"/>
              <a:t> Default. Available at: </a:t>
            </a:r>
            <a:r>
              <a:rPr lang="en-IE" dirty="0">
                <a:hlinkClick r:id="rId4"/>
              </a:rPr>
              <a:t>https://www.equiti.com/sc-en/news/trading-ideas/what-is-volatility-in-trading-volatility-trading-for-beginners/</a:t>
            </a:r>
            <a:endParaRPr lang="en-IE" dirty="0"/>
          </a:p>
          <a:p>
            <a:endParaRPr lang="en-US" dirty="0"/>
          </a:p>
        </p:txBody>
      </p:sp>
      <p:sp>
        <p:nvSpPr>
          <p:cNvPr id="15" name="Text Placeholder 14">
            <a:extLst>
              <a:ext uri="{FF2B5EF4-FFF2-40B4-BE49-F238E27FC236}">
                <a16:creationId xmlns:a16="http://schemas.microsoft.com/office/drawing/2014/main" id="{AD1D784A-4141-28D6-4A5F-930A6B66176C}"/>
              </a:ext>
            </a:extLst>
          </p:cNvPr>
          <p:cNvSpPr>
            <a:spLocks noGrp="1"/>
          </p:cNvSpPr>
          <p:nvPr>
            <p:ph type="body" sz="quarter" idx="96"/>
          </p:nvPr>
        </p:nvSpPr>
        <p:spPr>
          <a:xfrm>
            <a:off x="448858" y="11499019"/>
            <a:ext cx="10056813" cy="3564030"/>
          </a:xfrm>
        </p:spPr>
        <p:txBody>
          <a:bodyPr/>
          <a:lstStyle/>
          <a:p>
            <a:pPr marL="342900" lvl="0" indent="-342900" algn="just">
              <a:buFont typeface="Arial" panose="020B0604020202020204" pitchFamily="34" charset="0"/>
              <a:buChar char="•"/>
            </a:pPr>
            <a:r>
              <a:rPr lang="en-IE" sz="2400" b="1" dirty="0"/>
              <a:t>Segment the market:</a:t>
            </a:r>
            <a:r>
              <a:rPr lang="en-IE" sz="2400" dirty="0"/>
              <a:t> Use K-Means and Fuzzy C-Means to divide 10 years of QQQ trading days into three different trading patterns.</a:t>
            </a:r>
          </a:p>
          <a:p>
            <a:pPr marL="342900" lvl="0" indent="-342900" algn="just">
              <a:buFont typeface="Arial" panose="020B0604020202020204" pitchFamily="34" charset="0"/>
              <a:buChar char="•"/>
            </a:pPr>
            <a:r>
              <a:rPr lang="en-IE" sz="2400" b="1" dirty="0"/>
              <a:t>Forecast prices:</a:t>
            </a:r>
            <a:r>
              <a:rPr lang="en-IE" sz="2400" dirty="0"/>
              <a:t> Apply an ARIMA(0,1,0) model to estimate where short-term prices are heading based on historical data.</a:t>
            </a:r>
          </a:p>
          <a:p>
            <a:pPr marL="342900" lvl="0" indent="-342900" algn="just">
              <a:buFont typeface="Arial" panose="020B0604020202020204" pitchFamily="34" charset="0"/>
              <a:buChar char="•"/>
            </a:pPr>
            <a:r>
              <a:rPr lang="en-IE" sz="2400" b="1" dirty="0"/>
              <a:t>Integrate both models:</a:t>
            </a:r>
            <a:r>
              <a:rPr lang="en-IE" sz="2400" dirty="0"/>
              <a:t> Bring together the clustering and forecasting results to give a complete picture of market regimes, transition days, and future price trends.</a:t>
            </a:r>
          </a:p>
        </p:txBody>
      </p:sp>
      <p:sp>
        <p:nvSpPr>
          <p:cNvPr id="16" name="Text Placeholder 15">
            <a:extLst>
              <a:ext uri="{FF2B5EF4-FFF2-40B4-BE49-F238E27FC236}">
                <a16:creationId xmlns:a16="http://schemas.microsoft.com/office/drawing/2014/main" id="{0AD2DAE7-5392-D4F6-09BD-CBD3734582B2}"/>
              </a:ext>
            </a:extLst>
          </p:cNvPr>
          <p:cNvSpPr>
            <a:spLocks noGrp="1"/>
          </p:cNvSpPr>
          <p:nvPr>
            <p:ph type="body" sz="quarter" idx="150"/>
          </p:nvPr>
        </p:nvSpPr>
        <p:spPr/>
        <p:txBody>
          <a:bodyPr/>
          <a:lstStyle/>
          <a:p>
            <a:r>
              <a:rPr lang="en-US" dirty="0"/>
              <a:t>CCT COLLEGE</a:t>
            </a:r>
          </a:p>
        </p:txBody>
      </p:sp>
      <p:sp>
        <p:nvSpPr>
          <p:cNvPr id="17" name="Text Placeholder 16">
            <a:extLst>
              <a:ext uri="{FF2B5EF4-FFF2-40B4-BE49-F238E27FC236}">
                <a16:creationId xmlns:a16="http://schemas.microsoft.com/office/drawing/2014/main" id="{AAE1D3A5-28F2-B404-D4C7-47EB988D933E}"/>
              </a:ext>
            </a:extLst>
          </p:cNvPr>
          <p:cNvSpPr>
            <a:spLocks noGrp="1"/>
          </p:cNvSpPr>
          <p:nvPr>
            <p:ph type="body" sz="quarter" idx="151"/>
          </p:nvPr>
        </p:nvSpPr>
        <p:spPr/>
        <p:txBody>
          <a:bodyPr/>
          <a:lstStyle/>
          <a:p>
            <a:r>
              <a:rPr lang="en-US" dirty="0"/>
              <a:t>Mayra Alejandra Lugo Caicedo 2026119</a:t>
            </a:r>
          </a:p>
        </p:txBody>
      </p:sp>
      <p:sp>
        <p:nvSpPr>
          <p:cNvPr id="18" name="Text Placeholder 17">
            <a:extLst>
              <a:ext uri="{FF2B5EF4-FFF2-40B4-BE49-F238E27FC236}">
                <a16:creationId xmlns:a16="http://schemas.microsoft.com/office/drawing/2014/main" id="{12CD0C50-C7FD-6047-8A81-F714D190A0F7}"/>
              </a:ext>
            </a:extLst>
          </p:cNvPr>
          <p:cNvSpPr>
            <a:spLocks noGrp="1"/>
          </p:cNvSpPr>
          <p:nvPr>
            <p:ph type="body" sz="quarter" idx="153"/>
          </p:nvPr>
        </p:nvSpPr>
        <p:spPr>
          <a:xfrm>
            <a:off x="5932593" y="465813"/>
            <a:ext cx="31998968" cy="923330"/>
          </a:xfrm>
        </p:spPr>
        <p:txBody>
          <a:bodyPr/>
          <a:lstStyle/>
          <a:p>
            <a:r>
              <a:rPr lang="en-GB" dirty="0"/>
              <a:t>Segmenting Trading Days and Forecasting Market Risk: A machine Learning Approach on QQQ.</a:t>
            </a:r>
            <a:endParaRPr lang="en-US" dirty="0"/>
          </a:p>
        </p:txBody>
      </p:sp>
      <p:sp>
        <p:nvSpPr>
          <p:cNvPr id="21" name="Text Placeholder 4">
            <a:extLst>
              <a:ext uri="{FF2B5EF4-FFF2-40B4-BE49-F238E27FC236}">
                <a16:creationId xmlns:a16="http://schemas.microsoft.com/office/drawing/2014/main" id="{8852D5BA-D92A-BC58-1F97-DE86C0ECD20B}"/>
              </a:ext>
            </a:extLst>
          </p:cNvPr>
          <p:cNvSpPr txBox="1">
            <a:spLocks/>
          </p:cNvSpPr>
          <p:nvPr/>
        </p:nvSpPr>
        <p:spPr>
          <a:xfrm>
            <a:off x="497564" y="17131032"/>
            <a:ext cx="10048874" cy="738642"/>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1800" kern="1200">
                <a:solidFill>
                  <a:schemeClr val="accent5">
                    <a:lumMod val="50000"/>
                  </a:schemeClr>
                </a:solidFill>
                <a:latin typeface="Century Gothic" panose="020B0502020202020204" pitchFamily="34"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dirty="0"/>
          </a:p>
        </p:txBody>
      </p:sp>
      <p:sp>
        <p:nvSpPr>
          <p:cNvPr id="22" name="Text Placeholder 5">
            <a:extLst>
              <a:ext uri="{FF2B5EF4-FFF2-40B4-BE49-F238E27FC236}">
                <a16:creationId xmlns:a16="http://schemas.microsoft.com/office/drawing/2014/main" id="{093A2C43-6C02-91D7-CFBE-566BB4C57C00}"/>
              </a:ext>
            </a:extLst>
          </p:cNvPr>
          <p:cNvSpPr txBox="1">
            <a:spLocks/>
          </p:cNvSpPr>
          <p:nvPr/>
        </p:nvSpPr>
        <p:spPr>
          <a:xfrm>
            <a:off x="448858" y="15353950"/>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defTabSz="4388900" rtl="0" eaLnBrk="1" latinLnBrk="0" hangingPunct="1">
              <a:spcBef>
                <a:spcPct val="20000"/>
              </a:spcBef>
              <a:buFont typeface="Arial" pitchFamily="34" charset="0"/>
              <a:buNone/>
              <a:defRPr sz="2800" b="1" u="none" kern="1200" baseline="0">
                <a:solidFill>
                  <a:schemeClr val="bg1"/>
                </a:solidFill>
                <a:latin typeface="Century Gothic" panose="020B0502020202020204" pitchFamily="34"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METHODS</a:t>
            </a:r>
            <a:endParaRPr lang="en-US" dirty="0"/>
          </a:p>
        </p:txBody>
      </p:sp>
      <p:sp>
        <p:nvSpPr>
          <p:cNvPr id="23" name="Text Placeholder 6">
            <a:extLst>
              <a:ext uri="{FF2B5EF4-FFF2-40B4-BE49-F238E27FC236}">
                <a16:creationId xmlns:a16="http://schemas.microsoft.com/office/drawing/2014/main" id="{096B4DF5-D3A2-C388-D8E0-458E83A1D1A2}"/>
              </a:ext>
            </a:extLst>
          </p:cNvPr>
          <p:cNvSpPr txBox="1">
            <a:spLocks/>
          </p:cNvSpPr>
          <p:nvPr/>
        </p:nvSpPr>
        <p:spPr>
          <a:xfrm>
            <a:off x="459674" y="16125769"/>
            <a:ext cx="10048874" cy="16158247"/>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1800" kern="1200">
                <a:solidFill>
                  <a:schemeClr val="accent5">
                    <a:lumMod val="50000"/>
                  </a:schemeClr>
                </a:solidFill>
                <a:latin typeface="Century Gothic" panose="020B0502020202020204" pitchFamily="34"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342900" indent="-342900" algn="just">
              <a:buAutoNum type="arabicPeriod"/>
            </a:pPr>
            <a:r>
              <a:rPr lang="en-IE" sz="2400" b="1" dirty="0"/>
              <a:t>Data Preparation</a:t>
            </a:r>
          </a:p>
          <a:p>
            <a:pPr algn="just"/>
            <a:r>
              <a:rPr lang="en-IE" sz="2400" i="1" dirty="0"/>
              <a:t>To ensure all variables carried the same weight in the analysis, the dataset was first cleaned and standardized.</a:t>
            </a:r>
            <a:endParaRPr lang="en-IE" sz="2400" dirty="0"/>
          </a:p>
          <a:p>
            <a:pPr marL="285750" lvl="0" indent="-285750" algn="just">
              <a:buFont typeface="Arial" panose="020B0604020202020204" pitchFamily="34" charset="0"/>
              <a:buChar char="•"/>
            </a:pPr>
            <a:r>
              <a:rPr lang="en-IE" sz="2400" b="1" dirty="0"/>
              <a:t>Dataset:</a:t>
            </a:r>
            <a:r>
              <a:rPr lang="en-IE" sz="2400" dirty="0"/>
              <a:t> 10 years of daily QQQ ETF historical data.</a:t>
            </a:r>
          </a:p>
          <a:p>
            <a:pPr marL="285750" lvl="0" indent="-285750" algn="just">
              <a:buFont typeface="Arial" panose="020B0604020202020204" pitchFamily="34" charset="0"/>
              <a:buChar char="•"/>
            </a:pPr>
            <a:r>
              <a:rPr lang="en-IE" sz="2400" b="1" dirty="0"/>
              <a:t>Variables:</a:t>
            </a:r>
            <a:r>
              <a:rPr lang="en-IE" sz="2400" dirty="0"/>
              <a:t> </a:t>
            </a:r>
          </a:p>
          <a:p>
            <a:pPr lvl="0" algn="just"/>
            <a:r>
              <a:rPr lang="en-IE" sz="2400" dirty="0"/>
              <a:t>    - Adjusted closing prices, </a:t>
            </a:r>
          </a:p>
          <a:p>
            <a:pPr lvl="0" algn="just"/>
            <a:r>
              <a:rPr lang="en-IE" sz="2400" dirty="0"/>
              <a:t>    - Trading volume, </a:t>
            </a:r>
          </a:p>
          <a:p>
            <a:pPr lvl="0" algn="just"/>
            <a:r>
              <a:rPr lang="en-IE" sz="2400" dirty="0"/>
              <a:t>    - Log returns</a:t>
            </a:r>
          </a:p>
          <a:p>
            <a:pPr lvl="0" algn="just"/>
            <a:r>
              <a:rPr lang="en-IE" sz="2400" dirty="0"/>
              <a:t>    - 20-day volatility,</a:t>
            </a:r>
          </a:p>
          <a:p>
            <a:pPr lvl="0" algn="just"/>
            <a:r>
              <a:rPr lang="en-IE" sz="2400" dirty="0"/>
              <a:t>    - Volume ratio.</a:t>
            </a:r>
          </a:p>
          <a:p>
            <a:pPr marL="285750" lvl="0" indent="-285750" algn="just">
              <a:buFont typeface="Arial" panose="020B0604020202020204" pitchFamily="34" charset="0"/>
              <a:buChar char="•"/>
            </a:pPr>
            <a:r>
              <a:rPr lang="en-IE" sz="2400" b="1" dirty="0"/>
              <a:t>Scaling:</a:t>
            </a:r>
            <a:r>
              <a:rPr lang="en-IE" sz="2400" dirty="0"/>
              <a:t> Applied </a:t>
            </a:r>
            <a:r>
              <a:rPr lang="en-IE" sz="2400" b="1" dirty="0" err="1"/>
              <a:t>RobustScaler</a:t>
            </a:r>
            <a:r>
              <a:rPr lang="en-IE" sz="2400" dirty="0"/>
              <a:t> to handle extreme market outliers without losing information.</a:t>
            </a:r>
          </a:p>
          <a:p>
            <a:r>
              <a:rPr lang="en-IE" sz="2400" b="1" dirty="0"/>
              <a:t>2. Dimensionality Reduction</a:t>
            </a:r>
            <a:br>
              <a:rPr lang="en-IE" sz="2400" dirty="0"/>
            </a:br>
            <a:r>
              <a:rPr lang="en-IE" sz="2400" i="1" dirty="0"/>
              <a:t>The analysis involved five different variables, requiring a method to visualize the data in a 2D space.</a:t>
            </a:r>
            <a:endParaRPr lang="en-IE" sz="2400" dirty="0"/>
          </a:p>
          <a:p>
            <a:pPr marL="342900" lvl="0" indent="-342900" algn="just">
              <a:buFont typeface="Arial" panose="020B0604020202020204" pitchFamily="34" charset="0"/>
              <a:buChar char="•"/>
            </a:pPr>
            <a:r>
              <a:rPr lang="en-IE" sz="2400" b="1" dirty="0"/>
              <a:t>PCA</a:t>
            </a:r>
            <a:r>
              <a:rPr lang="en-IE" sz="2400" dirty="0"/>
              <a:t> (Principal Component Analysis) was applied with a </a:t>
            </a:r>
            <a:r>
              <a:rPr lang="en-IE" sz="2400" b="1" dirty="0"/>
              <a:t>98% variance threshold</a:t>
            </a:r>
            <a:r>
              <a:rPr lang="en-IE" sz="2400" dirty="0"/>
              <a:t> to retain the maximum amount of information. The data was then reduced to 2 main components for 2D visualization (retaining 74% of the variance).</a:t>
            </a:r>
          </a:p>
          <a:p>
            <a:r>
              <a:rPr lang="en-IE" sz="2400" b="1" dirty="0"/>
              <a:t>3. Unsupervised Clustering</a:t>
            </a:r>
            <a:br>
              <a:rPr lang="en-IE" sz="2400" dirty="0"/>
            </a:br>
            <a:r>
              <a:rPr lang="en-IE" sz="2400" i="1" dirty="0"/>
              <a:t>The core of the project was to uncover hidden market patterns without using predefined labels.</a:t>
            </a:r>
            <a:endParaRPr lang="en-IE" sz="2400" dirty="0"/>
          </a:p>
          <a:p>
            <a:pPr lvl="0" algn="just"/>
            <a:r>
              <a:rPr lang="en-IE" sz="2400" b="1" dirty="0"/>
              <a:t>K-Means:</a:t>
            </a:r>
            <a:r>
              <a:rPr lang="en-IE" sz="2400" dirty="0"/>
              <a:t> The Elbow Method was used to determine the optimal number of clusters (k=3). The model was validated using Silhouette and Davies-Bouldin scores.</a:t>
            </a:r>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endParaRPr lang="en-US" dirty="0"/>
          </a:p>
        </p:txBody>
      </p:sp>
      <p:pic>
        <p:nvPicPr>
          <p:cNvPr id="25" name="Picture 24">
            <a:extLst>
              <a:ext uri="{FF2B5EF4-FFF2-40B4-BE49-F238E27FC236}">
                <a16:creationId xmlns:a16="http://schemas.microsoft.com/office/drawing/2014/main" id="{AFF7D35D-A4C5-C9D0-68B3-8789FA02A072}"/>
              </a:ext>
            </a:extLst>
          </p:cNvPr>
          <p:cNvPicPr>
            <a:picLocks noChangeAspect="1"/>
          </p:cNvPicPr>
          <p:nvPr/>
        </p:nvPicPr>
        <p:blipFill>
          <a:blip r:embed="rId5"/>
          <a:srcRect t="2648"/>
          <a:stretch>
            <a:fillRect/>
          </a:stretch>
        </p:blipFill>
        <p:spPr>
          <a:xfrm>
            <a:off x="2831501" y="27410672"/>
            <a:ext cx="5283588" cy="3944983"/>
          </a:xfrm>
          <a:prstGeom prst="rect">
            <a:avLst/>
          </a:prstGeom>
        </p:spPr>
      </p:pic>
      <p:grpSp>
        <p:nvGrpSpPr>
          <p:cNvPr id="56" name="Group 55">
            <a:extLst>
              <a:ext uri="{FF2B5EF4-FFF2-40B4-BE49-F238E27FC236}">
                <a16:creationId xmlns:a16="http://schemas.microsoft.com/office/drawing/2014/main" id="{1C397AD2-3C93-2698-FAC9-20EE8F806F69}"/>
              </a:ext>
            </a:extLst>
          </p:cNvPr>
          <p:cNvGrpSpPr/>
          <p:nvPr/>
        </p:nvGrpSpPr>
        <p:grpSpPr>
          <a:xfrm>
            <a:off x="12636084" y="10585293"/>
            <a:ext cx="7642062" cy="4137102"/>
            <a:chOff x="12002548" y="10482146"/>
            <a:chExt cx="7642062" cy="4137102"/>
          </a:xfrm>
        </p:grpSpPr>
        <p:sp>
          <p:nvSpPr>
            <p:cNvPr id="26" name="Oval 25">
              <a:extLst>
                <a:ext uri="{FF2B5EF4-FFF2-40B4-BE49-F238E27FC236}">
                  <a16:creationId xmlns:a16="http://schemas.microsoft.com/office/drawing/2014/main" id="{0D2B5D78-B519-07AD-EEA3-1D201B724340}"/>
                </a:ext>
              </a:extLst>
            </p:cNvPr>
            <p:cNvSpPr/>
            <p:nvPr/>
          </p:nvSpPr>
          <p:spPr>
            <a:xfrm>
              <a:off x="12002548" y="10988412"/>
              <a:ext cx="602166" cy="615545"/>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latin typeface="Century Gothic" panose="020B0502020202020204" pitchFamily="34" charset="0"/>
              </a:endParaRPr>
            </a:p>
          </p:txBody>
        </p:sp>
        <p:sp>
          <p:nvSpPr>
            <p:cNvPr id="27" name="Rectangle 26">
              <a:extLst>
                <a:ext uri="{FF2B5EF4-FFF2-40B4-BE49-F238E27FC236}">
                  <a16:creationId xmlns:a16="http://schemas.microsoft.com/office/drawing/2014/main" id="{0A2D807C-5050-1D6D-6420-E39DB694900B}"/>
                </a:ext>
              </a:extLst>
            </p:cNvPr>
            <p:cNvSpPr/>
            <p:nvPr/>
          </p:nvSpPr>
          <p:spPr>
            <a:xfrm>
              <a:off x="13271690" y="10484624"/>
              <a:ext cx="2832409" cy="162807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rtlCol="0" anchor="ctr"/>
            <a:lstStyle/>
            <a:p>
              <a:pPr marL="342900" indent="-342900" algn="ctr">
                <a:buAutoNum type="arabicPeriod"/>
              </a:pPr>
              <a:r>
                <a:rPr lang="en-IE" sz="2400" b="1" dirty="0">
                  <a:latin typeface="Century Gothic" panose="020B0502020202020204" pitchFamily="34" charset="0"/>
                </a:rPr>
                <a:t>Data Preparation</a:t>
              </a:r>
            </a:p>
          </p:txBody>
        </p:sp>
        <p:sp>
          <p:nvSpPr>
            <p:cNvPr id="28" name="Rectangle 27">
              <a:extLst>
                <a:ext uri="{FF2B5EF4-FFF2-40B4-BE49-F238E27FC236}">
                  <a16:creationId xmlns:a16="http://schemas.microsoft.com/office/drawing/2014/main" id="{DD357E95-C4E7-C477-14D3-92CAD986663E}"/>
                </a:ext>
              </a:extLst>
            </p:cNvPr>
            <p:cNvSpPr/>
            <p:nvPr/>
          </p:nvSpPr>
          <p:spPr>
            <a:xfrm>
              <a:off x="16812201" y="10482146"/>
              <a:ext cx="2832409" cy="162807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E" sz="2400" b="1" dirty="0">
                  <a:latin typeface="Century Gothic" panose="020B0502020202020204" pitchFamily="34" charset="0"/>
                </a:rPr>
                <a:t>2. Dimensionality</a:t>
              </a:r>
            </a:p>
            <a:p>
              <a:pPr algn="ctr"/>
              <a:r>
                <a:rPr lang="en-IE" sz="2400" b="1" dirty="0">
                  <a:latin typeface="Century Gothic" panose="020B0502020202020204" pitchFamily="34" charset="0"/>
                </a:rPr>
                <a:t>Reduction</a:t>
              </a:r>
              <a:endParaRPr lang="en-IE" sz="2400" dirty="0">
                <a:latin typeface="Century Gothic" panose="020B0502020202020204" pitchFamily="34" charset="0"/>
              </a:endParaRPr>
            </a:p>
          </p:txBody>
        </p:sp>
        <p:sp>
          <p:nvSpPr>
            <p:cNvPr id="29" name="Rectangle 28">
              <a:extLst>
                <a:ext uri="{FF2B5EF4-FFF2-40B4-BE49-F238E27FC236}">
                  <a16:creationId xmlns:a16="http://schemas.microsoft.com/office/drawing/2014/main" id="{86A4920A-4A1A-54B2-FCB8-1AB736E75EB3}"/>
                </a:ext>
              </a:extLst>
            </p:cNvPr>
            <p:cNvSpPr/>
            <p:nvPr/>
          </p:nvSpPr>
          <p:spPr>
            <a:xfrm>
              <a:off x="16812201" y="12991170"/>
              <a:ext cx="2832409" cy="162807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E" sz="2400" b="1" dirty="0">
                  <a:latin typeface="Century Gothic" panose="020B0502020202020204" pitchFamily="34" charset="0"/>
                </a:rPr>
                <a:t>3. Unsupervised Clustering</a:t>
              </a:r>
              <a:endParaRPr lang="en-IE" sz="2400" dirty="0">
                <a:latin typeface="Century Gothic" panose="020B0502020202020204" pitchFamily="34" charset="0"/>
              </a:endParaRPr>
            </a:p>
          </p:txBody>
        </p:sp>
        <p:sp>
          <p:nvSpPr>
            <p:cNvPr id="30" name="Rectangle 29">
              <a:extLst>
                <a:ext uri="{FF2B5EF4-FFF2-40B4-BE49-F238E27FC236}">
                  <a16:creationId xmlns:a16="http://schemas.microsoft.com/office/drawing/2014/main" id="{E089BD3F-8ABB-5F24-C39E-F3520976531B}"/>
                </a:ext>
              </a:extLst>
            </p:cNvPr>
            <p:cNvSpPr/>
            <p:nvPr/>
          </p:nvSpPr>
          <p:spPr>
            <a:xfrm>
              <a:off x="13292253" y="12991170"/>
              <a:ext cx="2832409" cy="162807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E" sz="2400" b="1">
                  <a:latin typeface="Century Gothic" panose="020B0502020202020204" pitchFamily="34" charset="0"/>
                </a:rPr>
                <a:t>4. Time Series Forecasting</a:t>
              </a:r>
              <a:endParaRPr lang="en-IE" sz="2400" dirty="0">
                <a:latin typeface="Century Gothic" panose="020B0502020202020204" pitchFamily="34" charset="0"/>
              </a:endParaRPr>
            </a:p>
          </p:txBody>
        </p:sp>
        <p:sp>
          <p:nvSpPr>
            <p:cNvPr id="31" name="Oval 30">
              <a:extLst>
                <a:ext uri="{FF2B5EF4-FFF2-40B4-BE49-F238E27FC236}">
                  <a16:creationId xmlns:a16="http://schemas.microsoft.com/office/drawing/2014/main" id="{CF0C3E9B-A8E3-9873-059E-1C0D364EEED8}"/>
                </a:ext>
              </a:extLst>
            </p:cNvPr>
            <p:cNvSpPr/>
            <p:nvPr/>
          </p:nvSpPr>
          <p:spPr>
            <a:xfrm>
              <a:off x="12064002" y="13513221"/>
              <a:ext cx="602166" cy="615545"/>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latin typeface="Century Gothic" panose="020B0502020202020204" pitchFamily="34" charset="0"/>
              </a:endParaRPr>
            </a:p>
          </p:txBody>
        </p:sp>
        <p:cxnSp>
          <p:nvCxnSpPr>
            <p:cNvPr id="33" name="Straight Arrow Connector 32">
              <a:extLst>
                <a:ext uri="{FF2B5EF4-FFF2-40B4-BE49-F238E27FC236}">
                  <a16:creationId xmlns:a16="http://schemas.microsoft.com/office/drawing/2014/main" id="{86D8B417-8CB4-2C18-F377-A43E6087191E}"/>
                </a:ext>
              </a:extLst>
            </p:cNvPr>
            <p:cNvCxnSpPr>
              <a:cxnSpLocks/>
            </p:cNvCxnSpPr>
            <p:nvPr/>
          </p:nvCxnSpPr>
          <p:spPr>
            <a:xfrm>
              <a:off x="12604714" y="11296184"/>
              <a:ext cx="6875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88159F1-E875-33CA-A70E-2AFE5B71AC3B}"/>
                </a:ext>
              </a:extLst>
            </p:cNvPr>
            <p:cNvCxnSpPr>
              <a:cxnSpLocks/>
              <a:stCxn id="27" idx="3"/>
              <a:endCxn id="28" idx="1"/>
            </p:cNvCxnSpPr>
            <p:nvPr/>
          </p:nvCxnSpPr>
          <p:spPr>
            <a:xfrm flipV="1">
              <a:off x="16104099" y="11296185"/>
              <a:ext cx="708102" cy="2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E72EFD3-07FC-7951-DEDC-8DC7777920CB}"/>
                </a:ext>
              </a:extLst>
            </p:cNvPr>
            <p:cNvCxnSpPr>
              <a:cxnSpLocks/>
              <a:stCxn id="28" idx="2"/>
              <a:endCxn id="29" idx="0"/>
            </p:cNvCxnSpPr>
            <p:nvPr/>
          </p:nvCxnSpPr>
          <p:spPr>
            <a:xfrm>
              <a:off x="18228406" y="12110224"/>
              <a:ext cx="0" cy="880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200AB23-A532-B761-FD17-5FAEED13962E}"/>
                </a:ext>
              </a:extLst>
            </p:cNvPr>
            <p:cNvCxnSpPr>
              <a:cxnSpLocks/>
              <a:stCxn id="29" idx="1"/>
              <a:endCxn id="30" idx="3"/>
            </p:cNvCxnSpPr>
            <p:nvPr/>
          </p:nvCxnSpPr>
          <p:spPr>
            <a:xfrm flipH="1">
              <a:off x="16124662" y="13805209"/>
              <a:ext cx="6875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485A6BD-054D-76DF-65B9-541F74619056}"/>
                </a:ext>
              </a:extLst>
            </p:cNvPr>
            <p:cNvCxnSpPr>
              <a:cxnSpLocks/>
              <a:stCxn id="30" idx="1"/>
              <a:endCxn id="31" idx="6"/>
            </p:cNvCxnSpPr>
            <p:nvPr/>
          </p:nvCxnSpPr>
          <p:spPr>
            <a:xfrm flipH="1">
              <a:off x="12666168" y="13805209"/>
              <a:ext cx="626085" cy="15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1" name="Text Placeholder 6">
            <a:extLst>
              <a:ext uri="{FF2B5EF4-FFF2-40B4-BE49-F238E27FC236}">
                <a16:creationId xmlns:a16="http://schemas.microsoft.com/office/drawing/2014/main" id="{3E6838FD-5360-0890-9F2E-F97945B1426A}"/>
              </a:ext>
            </a:extLst>
          </p:cNvPr>
          <p:cNvSpPr txBox="1">
            <a:spLocks/>
          </p:cNvSpPr>
          <p:nvPr/>
        </p:nvSpPr>
        <p:spPr>
          <a:xfrm>
            <a:off x="11458574" y="16256475"/>
            <a:ext cx="10048874" cy="738642"/>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1800" kern="1200">
                <a:solidFill>
                  <a:schemeClr val="accent5">
                    <a:lumMod val="50000"/>
                  </a:schemeClr>
                </a:solidFill>
                <a:latin typeface="Century Gothic" panose="020B0502020202020204" pitchFamily="34"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dirty="0"/>
          </a:p>
        </p:txBody>
      </p:sp>
      <p:sp>
        <p:nvSpPr>
          <p:cNvPr id="62" name="Text Placeholder 7">
            <a:extLst>
              <a:ext uri="{FF2B5EF4-FFF2-40B4-BE49-F238E27FC236}">
                <a16:creationId xmlns:a16="http://schemas.microsoft.com/office/drawing/2014/main" id="{7C631644-6438-39C5-FF05-E45FED08973D}"/>
              </a:ext>
            </a:extLst>
          </p:cNvPr>
          <p:cNvSpPr txBox="1">
            <a:spLocks/>
          </p:cNvSpPr>
          <p:nvPr/>
        </p:nvSpPr>
        <p:spPr>
          <a:xfrm>
            <a:off x="11441109" y="15343939"/>
            <a:ext cx="10067928" cy="615545"/>
          </a:xfrm>
          <a:prstGeom prst="rect">
            <a:avLst/>
          </a:prstGeom>
          <a:solidFill>
            <a:schemeClr val="accent5">
              <a:lumMod val="50000"/>
            </a:schemeClr>
          </a:solidFill>
        </p:spPr>
        <p:txBody>
          <a:bodyPr wrap="square" lIns="91436" tIns="91436" rIns="91436" bIns="91436" anchor="t" anchorCtr="0">
            <a:spAutoFit/>
          </a:bodyPr>
          <a:lstStyle>
            <a:lvl1pPr marL="0" indent="0" algn="ctr" defTabSz="4388900" rtl="0" eaLnBrk="1" latinLnBrk="0" hangingPunct="1">
              <a:spcBef>
                <a:spcPct val="20000"/>
              </a:spcBef>
              <a:buFont typeface="Arial" pitchFamily="34" charset="0"/>
              <a:buNone/>
              <a:defRPr sz="2800" b="1" u="none" kern="1200" baseline="0">
                <a:solidFill>
                  <a:schemeClr val="bg1"/>
                </a:solidFill>
                <a:latin typeface="Century Gothic" panose="020B0502020202020204" pitchFamily="34"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RESULTS</a:t>
            </a:r>
            <a:endParaRPr lang="en-US" dirty="0"/>
          </a:p>
        </p:txBody>
      </p:sp>
      <p:sp>
        <p:nvSpPr>
          <p:cNvPr id="64" name="Text Placeholder 6">
            <a:extLst>
              <a:ext uri="{FF2B5EF4-FFF2-40B4-BE49-F238E27FC236}">
                <a16:creationId xmlns:a16="http://schemas.microsoft.com/office/drawing/2014/main" id="{69E00665-AFEE-4879-3C33-A20A87FE9D81}"/>
              </a:ext>
            </a:extLst>
          </p:cNvPr>
          <p:cNvSpPr txBox="1">
            <a:spLocks/>
          </p:cNvSpPr>
          <p:nvPr/>
        </p:nvSpPr>
        <p:spPr>
          <a:xfrm>
            <a:off x="11354544" y="16116740"/>
            <a:ext cx="10047018" cy="17192377"/>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1800" kern="1200">
                <a:solidFill>
                  <a:schemeClr val="accent5">
                    <a:lumMod val="50000"/>
                  </a:schemeClr>
                </a:solidFill>
                <a:latin typeface="Century Gothic" panose="020B0502020202020204" pitchFamily="34"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IE" sz="2400" b="1" dirty="0"/>
              <a:t>1. Market Segmentation (K-Means)</a:t>
            </a:r>
            <a:endParaRPr lang="en-IE" sz="2400" dirty="0"/>
          </a:p>
          <a:p>
            <a:pPr lvl="0"/>
            <a:r>
              <a:rPr lang="en-IE" sz="2400" b="1" dirty="0"/>
              <a:t>Three distinct regimes</a:t>
            </a:r>
            <a:r>
              <a:rPr lang="en-IE" sz="2400" dirty="0"/>
              <a:t> were successfully identified: </a:t>
            </a:r>
            <a:r>
              <a:rPr lang="en-IE" sz="2400" i="1" dirty="0"/>
              <a:t>Normal</a:t>
            </a:r>
            <a:r>
              <a:rPr lang="en-IE" sz="2400" dirty="0"/>
              <a:t>, </a:t>
            </a:r>
            <a:r>
              <a:rPr lang="en-IE" sz="2400" i="1" dirty="0"/>
              <a:t>High Volatility</a:t>
            </a:r>
            <a:r>
              <a:rPr lang="en-IE" sz="2400" dirty="0"/>
              <a:t>, and </a:t>
            </a:r>
            <a:r>
              <a:rPr lang="en-IE" sz="2400" i="1" dirty="0"/>
              <a:t>Volume Shock</a:t>
            </a:r>
            <a:r>
              <a:rPr lang="en-IE" sz="2400" dirty="0"/>
              <a:t>.</a:t>
            </a:r>
          </a:p>
          <a:p>
            <a:r>
              <a:rPr lang="en-IE" sz="2400" b="1" dirty="0"/>
              <a:t>Visual Evidence:</a:t>
            </a:r>
            <a:r>
              <a:rPr lang="en-IE" sz="2400" dirty="0"/>
              <a:t> The 2D PCA scatter plot shows a clear separation between these three market states.</a:t>
            </a:r>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endParaRPr lang="en-IE" sz="2400" dirty="0"/>
          </a:p>
          <a:p>
            <a:pPr lvl="0" algn="just"/>
            <a:endParaRPr lang="en-IE" sz="2400" dirty="0"/>
          </a:p>
          <a:p>
            <a:pPr lvl="0" algn="just"/>
            <a:r>
              <a:rPr lang="en-IE" sz="2400" b="1" dirty="0"/>
              <a:t>Model Performance:</a:t>
            </a:r>
            <a:r>
              <a:rPr lang="en-IE" sz="2400" dirty="0"/>
              <a:t> K-Means proved to be the most reliable model for strict classification (Silhouette Score: </a:t>
            </a:r>
            <a:r>
              <a:rPr lang="en-IE" sz="2400" b="1" dirty="0"/>
              <a:t>0.36</a:t>
            </a:r>
            <a:r>
              <a:rPr lang="en-IE" sz="2400" dirty="0"/>
              <a:t>, Davies-Bouldin: </a:t>
            </a:r>
            <a:r>
              <a:rPr lang="en-IE" sz="2400" b="1" dirty="0"/>
              <a:t>1.21</a:t>
            </a:r>
            <a:r>
              <a:rPr lang="en-IE" sz="2400" dirty="0"/>
              <a:t>).</a:t>
            </a:r>
          </a:p>
          <a:p>
            <a:pPr algn="just"/>
            <a:r>
              <a:rPr lang="en-IE" sz="2400" b="1" dirty="0"/>
              <a:t>2. Fuzzy C-Means &amp; Transition Days</a:t>
            </a:r>
            <a:endParaRPr lang="en-IE" sz="2400" dirty="0"/>
          </a:p>
          <a:p>
            <a:pPr lvl="0" algn="just"/>
            <a:r>
              <a:rPr lang="en-IE" sz="2400" b="1" dirty="0"/>
              <a:t>Market Ambiguity:</a:t>
            </a:r>
            <a:r>
              <a:rPr lang="en-IE" sz="2400" dirty="0"/>
              <a:t> Fuzzy C-Means revealed that almost half of the dataset (</a:t>
            </a:r>
            <a:r>
              <a:rPr lang="en-IE" sz="2400" b="1" dirty="0"/>
              <a:t>1,077 days</a:t>
            </a:r>
            <a:r>
              <a:rPr lang="en-IE" sz="2400" dirty="0"/>
              <a:t>) were "overlapping days".</a:t>
            </a:r>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lgn="just"/>
            <a:endParaRPr lang="en-IE" sz="2400" dirty="0"/>
          </a:p>
          <a:p>
            <a:pPr lvl="0"/>
            <a:endParaRPr lang="en-IE" sz="2400" dirty="0"/>
          </a:p>
          <a:p>
            <a:pPr lvl="0"/>
            <a:endParaRPr lang="en-IE" sz="2400" dirty="0"/>
          </a:p>
          <a:p>
            <a:endParaRPr lang="en-US" dirty="0"/>
          </a:p>
        </p:txBody>
      </p:sp>
      <p:pic>
        <p:nvPicPr>
          <p:cNvPr id="67" name="Picture 66">
            <a:extLst>
              <a:ext uri="{FF2B5EF4-FFF2-40B4-BE49-F238E27FC236}">
                <a16:creationId xmlns:a16="http://schemas.microsoft.com/office/drawing/2014/main" id="{61ADFEDB-7222-047F-3B0E-FF39ACC4D6AA}"/>
              </a:ext>
            </a:extLst>
          </p:cNvPr>
          <p:cNvPicPr>
            <a:picLocks noChangeAspect="1"/>
          </p:cNvPicPr>
          <p:nvPr/>
        </p:nvPicPr>
        <p:blipFill>
          <a:blip r:embed="rId6"/>
          <a:srcRect/>
          <a:stretch>
            <a:fillRect/>
          </a:stretch>
        </p:blipFill>
        <p:spPr>
          <a:xfrm>
            <a:off x="12401902" y="18519002"/>
            <a:ext cx="8041728" cy="5700459"/>
          </a:xfrm>
          <a:prstGeom prst="rect">
            <a:avLst/>
          </a:prstGeom>
        </p:spPr>
      </p:pic>
      <p:pic>
        <p:nvPicPr>
          <p:cNvPr id="75" name="Picture 74">
            <a:extLst>
              <a:ext uri="{FF2B5EF4-FFF2-40B4-BE49-F238E27FC236}">
                <a16:creationId xmlns:a16="http://schemas.microsoft.com/office/drawing/2014/main" id="{E738F529-1A1D-F872-F454-CFE53320AA2C}"/>
              </a:ext>
            </a:extLst>
          </p:cNvPr>
          <p:cNvPicPr>
            <a:picLocks noChangeAspect="1"/>
          </p:cNvPicPr>
          <p:nvPr/>
        </p:nvPicPr>
        <p:blipFill>
          <a:blip r:embed="rId7"/>
          <a:stretch>
            <a:fillRect/>
          </a:stretch>
        </p:blipFill>
        <p:spPr>
          <a:xfrm>
            <a:off x="24141852" y="7302808"/>
            <a:ext cx="6144494" cy="4656239"/>
          </a:xfrm>
          <a:prstGeom prst="rect">
            <a:avLst/>
          </a:prstGeom>
        </p:spPr>
      </p:pic>
      <p:pic>
        <p:nvPicPr>
          <p:cNvPr id="77" name="Picture 76">
            <a:extLst>
              <a:ext uri="{FF2B5EF4-FFF2-40B4-BE49-F238E27FC236}">
                <a16:creationId xmlns:a16="http://schemas.microsoft.com/office/drawing/2014/main" id="{92B34E15-30E1-0B78-B239-9198847C4A1A}"/>
              </a:ext>
            </a:extLst>
          </p:cNvPr>
          <p:cNvPicPr>
            <a:picLocks noChangeAspect="1"/>
          </p:cNvPicPr>
          <p:nvPr/>
        </p:nvPicPr>
        <p:blipFill>
          <a:blip r:embed="rId8"/>
          <a:srcRect t="1782"/>
          <a:stretch>
            <a:fillRect/>
          </a:stretch>
        </p:blipFill>
        <p:spPr>
          <a:xfrm>
            <a:off x="23276039" y="13391449"/>
            <a:ext cx="7851662" cy="6859792"/>
          </a:xfrm>
          <a:prstGeom prst="rect">
            <a:avLst/>
          </a:prstGeom>
        </p:spPr>
      </p:pic>
      <p:pic>
        <p:nvPicPr>
          <p:cNvPr id="81" name="Picture 80">
            <a:extLst>
              <a:ext uri="{FF2B5EF4-FFF2-40B4-BE49-F238E27FC236}">
                <a16:creationId xmlns:a16="http://schemas.microsoft.com/office/drawing/2014/main" id="{DD072B82-6A26-C5BA-76F2-BF5106D26A5E}"/>
              </a:ext>
            </a:extLst>
          </p:cNvPr>
          <p:cNvPicPr>
            <a:picLocks noChangeAspect="1"/>
          </p:cNvPicPr>
          <p:nvPr/>
        </p:nvPicPr>
        <p:blipFill>
          <a:blip r:embed="rId9"/>
          <a:stretch>
            <a:fillRect/>
          </a:stretch>
        </p:blipFill>
        <p:spPr>
          <a:xfrm>
            <a:off x="35354044" y="8972466"/>
            <a:ext cx="7063955" cy="3720287"/>
          </a:xfrm>
          <a:prstGeom prst="rect">
            <a:avLst/>
          </a:prstGeom>
        </p:spPr>
      </p:pic>
      <p:pic>
        <p:nvPicPr>
          <p:cNvPr id="85" name="Picture 84">
            <a:extLst>
              <a:ext uri="{FF2B5EF4-FFF2-40B4-BE49-F238E27FC236}">
                <a16:creationId xmlns:a16="http://schemas.microsoft.com/office/drawing/2014/main" id="{4E37CFF9-FAE5-E949-AD43-050A8A6D0FD6}"/>
              </a:ext>
            </a:extLst>
          </p:cNvPr>
          <p:cNvPicPr>
            <a:picLocks noChangeAspect="1"/>
          </p:cNvPicPr>
          <p:nvPr/>
        </p:nvPicPr>
        <p:blipFill>
          <a:blip r:embed="rId10"/>
          <a:srcRect b="3478"/>
          <a:stretch>
            <a:fillRect/>
          </a:stretch>
        </p:blipFill>
        <p:spPr>
          <a:xfrm>
            <a:off x="33512523" y="15671067"/>
            <a:ext cx="4126955" cy="3446132"/>
          </a:xfrm>
          <a:prstGeom prst="rect">
            <a:avLst/>
          </a:prstGeom>
        </p:spPr>
      </p:pic>
      <p:pic>
        <p:nvPicPr>
          <p:cNvPr id="93" name="Picture 92">
            <a:extLst>
              <a:ext uri="{FF2B5EF4-FFF2-40B4-BE49-F238E27FC236}">
                <a16:creationId xmlns:a16="http://schemas.microsoft.com/office/drawing/2014/main" id="{4E0B687A-6E90-57FB-9F37-2EC3E7EDAFC9}"/>
              </a:ext>
            </a:extLst>
          </p:cNvPr>
          <p:cNvPicPr>
            <a:picLocks noChangeAspect="1"/>
          </p:cNvPicPr>
          <p:nvPr/>
        </p:nvPicPr>
        <p:blipFill>
          <a:blip r:embed="rId11"/>
          <a:stretch>
            <a:fillRect/>
          </a:stretch>
        </p:blipFill>
        <p:spPr>
          <a:xfrm>
            <a:off x="22389848" y="27209067"/>
            <a:ext cx="4631373" cy="3380093"/>
          </a:xfrm>
          <a:prstGeom prst="rect">
            <a:avLst/>
          </a:prstGeom>
        </p:spPr>
      </p:pic>
      <p:pic>
        <p:nvPicPr>
          <p:cNvPr id="95" name="Picture 94">
            <a:extLst>
              <a:ext uri="{FF2B5EF4-FFF2-40B4-BE49-F238E27FC236}">
                <a16:creationId xmlns:a16="http://schemas.microsoft.com/office/drawing/2014/main" id="{63EF2E7C-62D4-7BF3-5364-61DE1C18D880}"/>
              </a:ext>
            </a:extLst>
          </p:cNvPr>
          <p:cNvPicPr>
            <a:picLocks noChangeAspect="1"/>
          </p:cNvPicPr>
          <p:nvPr/>
        </p:nvPicPr>
        <p:blipFill>
          <a:blip r:embed="rId12"/>
          <a:stretch>
            <a:fillRect/>
          </a:stretch>
        </p:blipFill>
        <p:spPr>
          <a:xfrm>
            <a:off x="26838341" y="27149170"/>
            <a:ext cx="4799899" cy="3666110"/>
          </a:xfrm>
          <a:prstGeom prst="rect">
            <a:avLst/>
          </a:prstGeom>
        </p:spPr>
      </p:pic>
      <p:sp>
        <p:nvSpPr>
          <p:cNvPr id="24" name="TextBox 23">
            <a:extLst>
              <a:ext uri="{FF2B5EF4-FFF2-40B4-BE49-F238E27FC236}">
                <a16:creationId xmlns:a16="http://schemas.microsoft.com/office/drawing/2014/main" id="{FD012198-C9E4-9A65-570E-C4AB264A7439}"/>
              </a:ext>
            </a:extLst>
          </p:cNvPr>
          <p:cNvSpPr txBox="1"/>
          <p:nvPr/>
        </p:nvSpPr>
        <p:spPr>
          <a:xfrm flipH="1">
            <a:off x="37452895" y="15770555"/>
            <a:ext cx="5989447" cy="3785652"/>
          </a:xfrm>
          <a:prstGeom prst="rect">
            <a:avLst/>
          </a:prstGeom>
          <a:noFill/>
        </p:spPr>
        <p:txBody>
          <a:bodyPr wrap="square" rtlCol="0">
            <a:spAutoFit/>
          </a:bodyPr>
          <a:lstStyle/>
          <a:p>
            <a:pPr algn="just" latinLnBrk="1"/>
            <a:r>
              <a:rPr lang="en-IE" sz="2400" dirty="0">
                <a:solidFill>
                  <a:schemeClr val="accent5">
                    <a:lumMod val="50000"/>
                  </a:schemeClr>
                </a:solidFill>
                <a:latin typeface="Century Gothic" panose="020B0502020202020204" pitchFamily="34" charset="0"/>
                <a:cs typeface="Times New Roman" pitchFamily="18" charset="0"/>
              </a:rPr>
              <a:t>The ARIMA model is excellent at </a:t>
            </a:r>
          </a:p>
          <a:p>
            <a:pPr algn="just" latinLnBrk="1"/>
            <a:r>
              <a:rPr lang="en-IE" sz="2400" dirty="0">
                <a:solidFill>
                  <a:schemeClr val="accent5">
                    <a:lumMod val="50000"/>
                  </a:schemeClr>
                </a:solidFill>
                <a:latin typeface="Century Gothic" panose="020B0502020202020204" pitchFamily="34" charset="0"/>
                <a:cs typeface="Times New Roman" pitchFamily="18" charset="0"/>
              </a:rPr>
              <a:t>following historical trends, but it cannot anticipate sudden market shocks. Size of train Data: 2463</a:t>
            </a:r>
          </a:p>
          <a:p>
            <a:pPr algn="just" latinLnBrk="1"/>
            <a:r>
              <a:rPr lang="en-IE" sz="2400" dirty="0">
                <a:solidFill>
                  <a:schemeClr val="accent5">
                    <a:lumMod val="50000"/>
                  </a:schemeClr>
                </a:solidFill>
                <a:latin typeface="Century Gothic" panose="020B0502020202020204" pitchFamily="34" charset="0"/>
                <a:cs typeface="Times New Roman" pitchFamily="18" charset="0"/>
              </a:rPr>
              <a:t>Size of test Data: 30</a:t>
            </a:r>
          </a:p>
          <a:p>
            <a:pPr algn="just" latinLnBrk="1"/>
            <a:r>
              <a:rPr lang="en-IE" sz="2400" dirty="0">
                <a:solidFill>
                  <a:schemeClr val="accent5">
                    <a:lumMod val="50000"/>
                  </a:schemeClr>
                </a:solidFill>
                <a:latin typeface="Century Gothic" panose="020B0502020202020204" pitchFamily="34" charset="0"/>
                <a:cs typeface="Times New Roman" pitchFamily="18" charset="0"/>
              </a:rPr>
              <a:t>Size of </a:t>
            </a:r>
            <a:r>
              <a:rPr lang="en-IE" sz="2400" dirty="0" err="1">
                <a:solidFill>
                  <a:schemeClr val="accent5">
                    <a:lumMod val="50000"/>
                  </a:schemeClr>
                </a:solidFill>
                <a:latin typeface="Century Gothic" panose="020B0502020202020204" pitchFamily="34" charset="0"/>
                <a:cs typeface="Times New Roman" pitchFamily="18" charset="0"/>
              </a:rPr>
              <a:t>Pronostic</a:t>
            </a:r>
            <a:r>
              <a:rPr lang="en-IE" sz="2400" dirty="0">
                <a:solidFill>
                  <a:schemeClr val="accent5">
                    <a:lumMod val="50000"/>
                  </a:schemeClr>
                </a:solidFill>
                <a:latin typeface="Century Gothic" panose="020B0502020202020204" pitchFamily="34" charset="0"/>
                <a:cs typeface="Times New Roman" pitchFamily="18" charset="0"/>
              </a:rPr>
              <a:t>: 30</a:t>
            </a:r>
          </a:p>
          <a:p>
            <a:pPr algn="just" latinLnBrk="1"/>
            <a:r>
              <a:rPr lang="en-IE" sz="2400" dirty="0" err="1">
                <a:solidFill>
                  <a:schemeClr val="accent5">
                    <a:lumMod val="50000"/>
                  </a:schemeClr>
                </a:solidFill>
                <a:latin typeface="Century Gothic" panose="020B0502020202020204" pitchFamily="34" charset="0"/>
                <a:cs typeface="Times New Roman" pitchFamily="18" charset="0"/>
              </a:rPr>
              <a:t>Pronostic</a:t>
            </a:r>
            <a:r>
              <a:rPr lang="en-IE" sz="2400" dirty="0">
                <a:solidFill>
                  <a:schemeClr val="accent5">
                    <a:lumMod val="50000"/>
                  </a:schemeClr>
                </a:solidFill>
                <a:latin typeface="Century Gothic" panose="020B0502020202020204" pitchFamily="34" charset="0"/>
                <a:cs typeface="Times New Roman" pitchFamily="18" charset="0"/>
              </a:rPr>
              <a:t> Evaluation (last 30 days):</a:t>
            </a:r>
          </a:p>
          <a:p>
            <a:pPr algn="just" latinLnBrk="1"/>
            <a:r>
              <a:rPr lang="en-IE" sz="2400" dirty="0">
                <a:solidFill>
                  <a:schemeClr val="accent5">
                    <a:lumMod val="50000"/>
                  </a:schemeClr>
                </a:solidFill>
                <a:latin typeface="Century Gothic" panose="020B0502020202020204" pitchFamily="34" charset="0"/>
                <a:cs typeface="Times New Roman" pitchFamily="18" charset="0"/>
              </a:rPr>
              <a:t>MAE: 19.44 USD</a:t>
            </a:r>
          </a:p>
          <a:p>
            <a:pPr algn="just" latinLnBrk="1"/>
            <a:r>
              <a:rPr lang="en-IE" sz="2400" dirty="0">
                <a:solidFill>
                  <a:schemeClr val="accent5">
                    <a:lumMod val="50000"/>
                  </a:schemeClr>
                </a:solidFill>
                <a:latin typeface="Century Gothic" panose="020B0502020202020204" pitchFamily="34" charset="0"/>
                <a:cs typeface="Times New Roman" pitchFamily="18" charset="0"/>
              </a:rPr>
              <a:t>RMSE: 24.99 USD</a:t>
            </a:r>
          </a:p>
          <a:p>
            <a:pPr algn="just" latinLnBrk="1"/>
            <a:r>
              <a:rPr lang="en-IE" sz="2400" dirty="0">
                <a:solidFill>
                  <a:schemeClr val="accent5">
                    <a:lumMod val="50000"/>
                  </a:schemeClr>
                </a:solidFill>
                <a:latin typeface="Century Gothic" panose="020B0502020202020204" pitchFamily="34" charset="0"/>
                <a:cs typeface="Times New Roman" pitchFamily="18" charset="0"/>
              </a:rPr>
              <a:t>MAPE: 2.62%</a:t>
            </a:r>
          </a:p>
        </p:txBody>
      </p:sp>
      <p:pic>
        <p:nvPicPr>
          <p:cNvPr id="45" name="Picture 44">
            <a:extLst>
              <a:ext uri="{FF2B5EF4-FFF2-40B4-BE49-F238E27FC236}">
                <a16:creationId xmlns:a16="http://schemas.microsoft.com/office/drawing/2014/main" id="{83EDD520-9755-68FF-87ED-207A9F82969E}"/>
              </a:ext>
            </a:extLst>
          </p:cNvPr>
          <p:cNvPicPr>
            <a:picLocks noChangeAspect="1"/>
          </p:cNvPicPr>
          <p:nvPr/>
        </p:nvPicPr>
        <p:blipFill>
          <a:blip r:embed="rId13"/>
          <a:srcRect r="204"/>
          <a:stretch>
            <a:fillRect/>
          </a:stretch>
        </p:blipFill>
        <p:spPr>
          <a:xfrm>
            <a:off x="10748363" y="27238206"/>
            <a:ext cx="10653200" cy="4267419"/>
          </a:xfrm>
          <a:prstGeom prst="rect">
            <a:avLst/>
          </a:prstGeom>
        </p:spPr>
      </p:pic>
    </p:spTree>
    <p:extLst>
      <p:ext uri="{BB962C8B-B14F-4D97-AF65-F5344CB8AC3E}">
        <p14:creationId xmlns:p14="http://schemas.microsoft.com/office/powerpoint/2010/main" val="358771719"/>
      </p:ext>
    </p:extLst>
  </p:cSld>
  <p:clrMapOvr>
    <a:masterClrMapping/>
  </p:clrMapOvr>
  <mc:AlternateContent xmlns:mc="http://schemas.openxmlformats.org/markup-compatibility/2006">
    <mc:Choice xmlns:p14="http://schemas.microsoft.com/office/powerpoint/2010/main" Requires="p14">
      <p:transition spd="slow" p14:dur="2000" advTm="42303"/>
    </mc:Choice>
    <mc:Fallback>
      <p:transition spd="slow" advTm="42303"/>
    </mc:Fallback>
  </mc:AlternateContent>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1455</TotalTime>
  <Words>1316</Words>
  <Application>Microsoft Office PowerPoint</Application>
  <PresentationFormat>Custom</PresentationFormat>
  <Paragraphs>181</Paragraphs>
  <Slides>1</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Century Gothic</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Mayra Lugo</cp:lastModifiedBy>
  <cp:revision>71</cp:revision>
  <dcterms:created xsi:type="dcterms:W3CDTF">2012-02-03T19:11:35Z</dcterms:created>
  <dcterms:modified xsi:type="dcterms:W3CDTF">2026-10-28T09:02:13Z</dcterms:modified>
  <cp:category>Research poster templates</cp:category>
</cp:coreProperties>
</file>